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(|r|)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BD5E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Temp ↔ FeelsLike</c:v>
                  </c:pt>
                  <c:pt idx="1">
                    <c:v>Humidity ↔ Precip</c:v>
                  </c:pt>
                  <c:pt idx="2">
                    <c:v>UV ↔ Temp</c:v>
                  </c:pt>
                  <c:pt idx="3">
                    <c:v>Wind ↔ Pressure</c:v>
                  </c:pt>
                  <c:pt idx="4">
                    <c:v>Pressure ↔ Precip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0.99</c:v>
                </c:pt>
                <c:pt idx="1">
                  <c:v>0.54</c:v>
                </c:pt>
                <c:pt idx="2">
                  <c:v>0.47</c:v>
                </c:pt>
                <c:pt idx="3">
                  <c:v>0.21</c:v>
                </c:pt>
                <c:pt idx="4">
                  <c:v>0.18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|SHAP value|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D1B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4B8A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563EB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DB2777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F97316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temp_roll7</c:v>
                  </c:pt>
                  <c:pt idx="1">
                    <c:v>temp_lag1</c:v>
                  </c:pt>
                  <c:pt idx="2">
                    <c:v>day_of_year</c:v>
                  </c:pt>
                  <c:pt idx="3">
                    <c:v>temp_roll30</c:v>
                  </c:pt>
                  <c:pt idx="4">
                    <c:v>temp_lag3</c:v>
                  </c:pt>
                  <c:pt idx="5">
                    <c:v>temp_lag7</c:v>
                  </c:pt>
                  <c:pt idx="6">
                    <c:v>month</c:v>
                  </c:pt>
                  <c:pt idx="7">
                    <c:v>humidity</c:v>
                  </c:pt>
                  <c:pt idx="8">
                    <c:v>pressure_mb</c:v>
                  </c:pt>
                  <c:pt idx="9">
                    <c:v>uv_index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0.98</c:v>
                </c:pt>
                <c:pt idx="1">
                  <c:v>0.87</c:v>
                </c:pt>
                <c:pt idx="2">
                  <c:v>0.71</c:v>
                </c:pt>
                <c:pt idx="3">
                  <c:v>0.62</c:v>
                </c:pt>
                <c:pt idx="4">
                  <c:v>0.51</c:v>
                </c:pt>
                <c:pt idx="5">
                  <c:v>0.44</c:v>
                </c:pt>
                <c:pt idx="6">
                  <c:v>0.36</c:v>
                </c:pt>
                <c:pt idx="7">
                  <c:v>0.28</c:v>
                </c:pt>
                <c:pt idx="8">
                  <c:v>0.19</c:v>
                </c:pt>
                <c:pt idx="9">
                  <c:v>0.12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D1B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0F4F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(lower = better)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A5E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333E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F4444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LightGBM</c:v>
                  </c:pt>
                  <c:pt idx="1">
                    <c:v>Ensemble</c:v>
                  </c:pt>
                  <c:pt idx="2">
                    <c:v>XGBoost</c:v>
                  </c:pt>
                  <c:pt idx="3">
                    <c:v>Grad. Boost</c:v>
                  </c:pt>
                  <c:pt idx="4">
                    <c:v>Rand. Forest</c:v>
                  </c:pt>
                  <c:pt idx="5">
                    <c:v>LSTM</c:v>
                  </c:pt>
                  <c:pt idx="6">
                    <c:v>Transformer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1.431</c:v>
                </c:pt>
                <c:pt idx="1">
                  <c:v>1.446</c:v>
                </c:pt>
                <c:pt idx="2">
                  <c:v>1.453</c:v>
                </c:pt>
                <c:pt idx="3">
                  <c:v>1.489</c:v>
                </c:pt>
                <c:pt idx="4">
                  <c:v>1.49</c:v>
                </c:pt>
                <c:pt idx="5">
                  <c:v>1.83</c:v>
                </c:pt>
                <c:pt idx="6">
                  <c:v>1.923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B3A5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731520"/>
            <a:ext cx="5029200" cy="5029200"/>
          </a:xfrm>
          <a:prstGeom prst="ellipse">
            <a:avLst/>
          </a:prstGeom>
          <a:solidFill>
            <a:srgbClr val="1B3A5C">
              <a:alpha val="60000"/>
            </a:srgbClr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274320"/>
            <a:ext cx="3657600" cy="36576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65760"/>
            <a:ext cx="2560320" cy="3200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365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PM ACCELERATOR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EAD4"/>
                </a:solidFill>
              </a:rPr>
              <a:t>🌍 Global Weather Repository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7772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Advanced Weather</a:t>
            </a:r>
            <a:endParaRPr lang="en-US" sz="5200" dirty="0"/>
          </a:p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Forecasting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</a:rPr>
              <a:t>Machine Learning  ·  Deep Learning  ·  Time-Series Analysis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</a:rPr>
              <a:t>143,262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Records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</a:rPr>
              <a:t>41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51460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Raw Features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</a:rPr>
              <a:t>9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57200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Models Built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29400" y="38587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EEAD4"/>
                </a:solidFill>
              </a:rPr>
              <a:t>0.961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629400" y="42519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Best R²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Our Mission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8046720" cy="2103120"/>
          </a:xfrm>
          <a:prstGeom prst="rect">
            <a:avLst/>
          </a:prstGeom>
          <a:solidFill>
            <a:srgbClr val="0D1B2A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109728" cy="2103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7589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0F4F8"/>
                </a:solidFill>
              </a:rPr>
              <a:t>To accelerate the careers of product managers worldwide by providing real-world experience, mentorship, and community — empowering them to build impactful products and lead high-performing teams.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EEAD4"/>
                </a:solidFill>
              </a:rPr>
              <a:t>Assessment: Advanced Data Science Track — Weather Trend Forecasting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Global Weather Repository  ·  143,262 rows  ·  May 2024 – May 2026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End-to-End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051560" cy="3291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1554480"/>
            <a:ext cx="10515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Cleaning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38328" y="2176272"/>
            <a:ext cx="923544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74320" y="2240280"/>
            <a:ext cx="1051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Missing values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IQR capping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325880" y="205740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1508760" y="868680"/>
            <a:ext cx="1051560" cy="32918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9601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08760" y="1554480"/>
            <a:ext cx="10515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EDA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Anomalies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572768" y="2176272"/>
            <a:ext cx="923544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1508760" y="2240280"/>
            <a:ext cx="1051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Decomposition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610 anomalies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560320" y="205740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16" name="Shape 12"/>
          <p:cNvSpPr/>
          <p:nvPr/>
        </p:nvSpPr>
        <p:spPr>
          <a:xfrm>
            <a:off x="2743200" y="868680"/>
            <a:ext cx="1051560" cy="329184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96012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743200" y="1554480"/>
            <a:ext cx="10515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2807208" y="2176272"/>
            <a:ext cx="923544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2743200" y="2240280"/>
            <a:ext cx="1051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18 new features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Lags &amp; Rolls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3794760" y="205740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3977640" y="868680"/>
            <a:ext cx="1051560" cy="3291840"/>
          </a:xfrm>
          <a:prstGeom prst="rect">
            <a:avLst/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96012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3977640" y="1554480"/>
            <a:ext cx="10515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Spatial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041648" y="2176272"/>
            <a:ext cx="923544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3977640" y="2240280"/>
            <a:ext cx="1051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Geo-map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Country rankings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5029200" y="205740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28" name="Shape 22"/>
          <p:cNvSpPr/>
          <p:nvPr/>
        </p:nvSpPr>
        <p:spPr>
          <a:xfrm>
            <a:off x="5212080" y="868680"/>
            <a:ext cx="1051560" cy="329184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960120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12080" y="1554480"/>
            <a:ext cx="10515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Classical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Models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276088" y="2176272"/>
            <a:ext cx="923544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5212080" y="2240280"/>
            <a:ext cx="1051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ARIMA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Prophet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6263640" y="205740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34" name="Shape 27"/>
          <p:cNvSpPr/>
          <p:nvPr/>
        </p:nvSpPr>
        <p:spPr>
          <a:xfrm>
            <a:off x="6446520" y="868680"/>
            <a:ext cx="1051560" cy="3291840"/>
          </a:xfrm>
          <a:prstGeom prst="rect">
            <a:avLst/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0" y="960120"/>
            <a:ext cx="502920" cy="50292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446520" y="1554480"/>
            <a:ext cx="10515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ML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Deep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6510528" y="2176272"/>
            <a:ext cx="923544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38" name="Text 30"/>
          <p:cNvSpPr/>
          <p:nvPr/>
        </p:nvSpPr>
        <p:spPr>
          <a:xfrm>
            <a:off x="6446520" y="2240280"/>
            <a:ext cx="1051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6 models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LSTM+Transformer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7498080" y="2057400"/>
            <a:ext cx="164592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dash"/>
          </a:ln>
        </p:spPr>
      </p:sp>
      <p:sp>
        <p:nvSpPr>
          <p:cNvPr id="40" name="Shape 32"/>
          <p:cNvSpPr/>
          <p:nvPr/>
        </p:nvSpPr>
        <p:spPr>
          <a:xfrm>
            <a:off x="7680960" y="868680"/>
            <a:ext cx="1051560" cy="32918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960120"/>
            <a:ext cx="502920" cy="5029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7680960" y="1554480"/>
            <a:ext cx="1051560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Ensemble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Results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744968" y="2176272"/>
            <a:ext cx="923544" cy="27432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44" name="Text 35"/>
          <p:cNvSpPr/>
          <p:nvPr/>
        </p:nvSpPr>
        <p:spPr>
          <a:xfrm>
            <a:off x="7680960" y="2240280"/>
            <a:ext cx="10515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Weighted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Leaderboard</a:t>
            </a:r>
            <a:endParaRPr lang="en-US" sz="900" dirty="0"/>
          </a:p>
        </p:txBody>
      </p:sp>
      <p:sp>
        <p:nvSpPr>
          <p:cNvPr id="45" name="Text 36"/>
          <p:cNvSpPr/>
          <p:nvPr/>
        </p:nvSpPr>
        <p:spPr>
          <a:xfrm>
            <a:off x="274320" y="443484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Dataset: 143,262 records  ·  41 raw features  ·  59 after engineering  ·  Target: temperature_celsius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Data Cleaning &amp; EDA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73152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601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DateTime Parsing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Chronological sort by last_updated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73152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20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Missing Values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Per-country median → global median fallback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80360"/>
            <a:ext cx="73152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03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Outlier Capping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200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IQR 1st–99th percentile on 6 core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840480"/>
            <a:ext cx="73152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Result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143,262 × 59 clean features, 0 columns dropped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9144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Key Correlations</a:t>
            </a:r>
            <a:endParaRPr lang="en-US" sz="14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846320" y="1325880"/>
          <a:ext cx="3977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Anomaly Detection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1"/>
                </a:solidFill>
              </a:rPr>
              <a:t>Consensus approach: flagged only when BOTH detectors agree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06040" cy="17373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2606040" cy="91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4,298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Isolation Forest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contamination = 3%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234440"/>
            <a:ext cx="2606040" cy="17373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234440"/>
            <a:ext cx="2606040" cy="9144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4,298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291840" y="2103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Local Outlier Factor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25328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k=20, contamination=3%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234440"/>
            <a:ext cx="2606040" cy="1737360"/>
          </a:xfrm>
          <a:prstGeom prst="rect">
            <a:avLst/>
          </a:prstGeom>
          <a:solidFill>
            <a:srgbClr val="1B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234440"/>
            <a:ext cx="2606040" cy="914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4173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610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126480" y="21031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BD5E1"/>
                </a:solidFill>
              </a:rPr>
              <a:t>Consensus Anomalies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2532888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Both methods agree ✓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73152" cy="1463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200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</a:rPr>
              <a:t>Key Finding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8368" y="3200400"/>
            <a:ext cx="804672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</a:rPr>
              <a:t>610 consensus anomalies cluster around extreme seasonal temperature spikes and abnormal inter-day jumps — not random noise. Detected using Isolation Forest + LOF consensus to minimise false positives.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Feature Importance — SHAP Analysis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68680"/>
            <a:ext cx="3017520" cy="868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868680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5925312" y="90525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#1  7-Day Rolling Avg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25312" y="1216152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Recent temperature history is the strongest predictor by far — dwarfing all static weather features.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760720" y="1856232"/>
            <a:ext cx="3017520" cy="868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856232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8"/>
          <p:cNvSpPr/>
          <p:nvPr/>
        </p:nvSpPr>
        <p:spPr>
          <a:xfrm>
            <a:off x="5925312" y="18928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#2  Yesterday's Temp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925312" y="2203704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Lag-1 captures daily autocorrelation; the model exploits short-term momentum.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760720" y="2843784"/>
            <a:ext cx="3017520" cy="868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843784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925312" y="2880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#3  Day of Year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925312" y="3191256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Cyclical seasonal signal encodes the annual temperature pattern.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760720" y="3831336"/>
            <a:ext cx="3017520" cy="86868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831336"/>
            <a:ext cx="64008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5925312" y="3867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Rolling + Lags = 60%+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25312" y="417880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The top 6 features are all temporal derivations, not raw sensor readings.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9 Models Across 3 Tiers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5603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1 — Classical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228600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ARIMA(2,1,2)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Prophet (yearly+weekly)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914400"/>
            <a:ext cx="288036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914400"/>
            <a:ext cx="28803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914400"/>
            <a:ext cx="288036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2 — Machine Learning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37560" y="1554480"/>
            <a:ext cx="260604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Random Forest (200 trees)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Gradient Boosting (300 trees)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XGBoost (300 trees)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LightGBM ⭐ Best (500 trees)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914400"/>
            <a:ext cx="256032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914400"/>
            <a:ext cx="2560320" cy="5029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914400"/>
            <a:ext cx="256032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Tier 3 — Deep Learning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554480"/>
            <a:ext cx="2286000" cy="3017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LSTM (128→64 units, look-back 30d)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2A"/>
                </a:solidFill>
              </a:rPr>
              <a:t>Temporal Transformer (4 heads)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</a:rPr>
              <a:t>Train/Test split: 113,328 / 28,333 samples  ·  Chronological (no shuffling)  ·  Deep Learning: 30-day look-back → 7-day horizon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Model Performance Leaderboard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8686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EEAD4"/>
                </a:solidFill>
              </a:rPr>
              <a:t>R² Score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669280" y="1280160"/>
            <a:ext cx="310896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Shape 4"/>
          <p:cNvSpPr/>
          <p:nvPr/>
        </p:nvSpPr>
        <p:spPr>
          <a:xfrm>
            <a:off x="5669280" y="1280160"/>
            <a:ext cx="91440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5852160" y="131673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LightGBM ⭐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0" y="131673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0.961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85216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RMSE: 1.955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669280" y="2057400"/>
            <a:ext cx="310896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2" name="Shape 9"/>
          <p:cNvSpPr/>
          <p:nvPr/>
        </p:nvSpPr>
        <p:spPr>
          <a:xfrm>
            <a:off x="5669280" y="2057400"/>
            <a:ext cx="91440" cy="658368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13" name="Text 10"/>
          <p:cNvSpPr/>
          <p:nvPr/>
        </p:nvSpPr>
        <p:spPr>
          <a:xfrm>
            <a:off x="5852160" y="209397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Ensemble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315200" y="20939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EAD4"/>
                </a:solidFill>
              </a:rPr>
              <a:t>0.960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852160" y="2423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RMSE: 1.982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2834640"/>
            <a:ext cx="310896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7" name="Shape 14"/>
          <p:cNvSpPr/>
          <p:nvPr/>
        </p:nvSpPr>
        <p:spPr>
          <a:xfrm>
            <a:off x="5669280" y="2834640"/>
            <a:ext cx="91440" cy="658368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5"/>
          <p:cNvSpPr/>
          <p:nvPr/>
        </p:nvSpPr>
        <p:spPr>
          <a:xfrm>
            <a:off x="5852160" y="287121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XGBoost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315200" y="287121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EA5E9"/>
                </a:solidFill>
              </a:rPr>
              <a:t>0.960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5852160" y="3200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RMSE: 1.982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669280" y="3611880"/>
            <a:ext cx="3108960" cy="65836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2" name="Shape 19"/>
          <p:cNvSpPr/>
          <p:nvPr/>
        </p:nvSpPr>
        <p:spPr>
          <a:xfrm>
            <a:off x="5669280" y="3611880"/>
            <a:ext cx="91440" cy="65836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5852160" y="3648456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LSTM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315200" y="36484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59E0B"/>
                </a:solidFill>
              </a:rPr>
              <a:t>0.937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5852160" y="39776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RMSE: 2.484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65760" y="47091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EEAD4"/>
                </a:solidFill>
              </a:rPr>
              <a:t>LightGBM achieves MAE=1.431°C on 28,333 test samples — every prediction within 1.4° of truth on average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Deep Learning Architectures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LSTM Forecaster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657600" cy="365760"/>
          </a:xfrm>
          <a:prstGeom prst="rect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813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Input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1481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(30 timesteps × 14 features)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920240"/>
            <a:ext cx="3657600" cy="36576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9385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LSTM(128)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31720" y="19385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return_sequences=True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377440"/>
            <a:ext cx="3657600" cy="365760"/>
          </a:xfrm>
          <a:prstGeom prst="rect">
            <a:avLst/>
          </a:prstGeom>
          <a:solidFill>
            <a:srgbClr val="64748B">
              <a:alpha val="8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3957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Dropout(0.2)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331720" y="23957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Regularization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834640"/>
            <a:ext cx="3657600" cy="36576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529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LSTM(64)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331720" y="28529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return_sequences=False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3657600" cy="365760"/>
          </a:xfrm>
          <a:prstGeom prst="rect">
            <a:avLst/>
          </a:prstGeom>
          <a:solidFill>
            <a:srgbClr val="64748B">
              <a:alpha val="8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3101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Dropout(0.2)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331720" y="33101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Regularization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48640" y="3749040"/>
            <a:ext cx="3657600" cy="365760"/>
          </a:xfrm>
          <a:prstGeom prst="rect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7673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Dense(32)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37673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ReLU activation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4206240"/>
            <a:ext cx="3657600" cy="36576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2245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Dense(7)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331720" y="422452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7-day forecast output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54880" y="914400"/>
            <a:ext cx="4023360" cy="3931920"/>
          </a:xfrm>
          <a:prstGeom prst="rect">
            <a:avLst/>
          </a:prstGeom>
          <a:solidFill>
            <a:srgbClr val="F0F4F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914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Temporal Transformer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solidFill>
            <a:srgbClr val="0EA5E9">
              <a:alpha val="8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0" y="14813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Input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66560" y="1481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(30 × 14 features)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5029200" y="19385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Dense(64)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766560" y="19385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Project to model dim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solidFill>
            <a:srgbClr val="9333EA">
              <a:alpha val="8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23957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Pos. Encoding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766560" y="23957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Learned positional signal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solidFill>
            <a:srgbClr val="DC2626">
              <a:alpha val="80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28529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MultiHeadAttn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766560" y="28529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4 heads, key_dim=16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37760" y="3291840"/>
            <a:ext cx="3657600" cy="365760"/>
          </a:xfrm>
          <a:prstGeom prst="rect">
            <a:avLst/>
          </a:prstGeom>
          <a:solidFill>
            <a:srgbClr val="64748B">
              <a:alpha val="8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5029200" y="33101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LayerNorm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766560" y="33101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+ residual connection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37760" y="3749040"/>
            <a:ext cx="3657600" cy="365760"/>
          </a:xfrm>
          <a:prstGeom prst="rect">
            <a:avLst/>
          </a:prstGeom>
          <a:solidFill>
            <a:srgbClr val="059669">
              <a:alpha val="8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5029200" y="37673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FFN(128→64)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66560" y="37673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Feed-forward block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37760" y="4206240"/>
            <a:ext cx="3657600" cy="365760"/>
          </a:xfrm>
          <a:prstGeom prst="rect">
            <a:avLst/>
          </a:prstGeom>
          <a:solidFill>
            <a:srgbClr val="0D9488">
              <a:alpha val="80000"/>
            </a:srgbClr>
          </a:solidFill>
          <a:ln/>
        </p:spPr>
      </p:sp>
      <p:sp>
        <p:nvSpPr>
          <p:cNvPr id="50" name="Text 48"/>
          <p:cNvSpPr/>
          <p:nvPr/>
        </p:nvSpPr>
        <p:spPr>
          <a:xfrm>
            <a:off x="5029200" y="4224528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Dense(7)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766560" y="422452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7-day forecast output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EEA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Insights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1600200"/>
          </a:xfrm>
          <a:prstGeom prst="rect">
            <a:avLst/>
          </a:prstGeom>
          <a:solidFill>
            <a:srgbClr val="0D1B2A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26517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11521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05840" y="11521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Rolling features dominate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0020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7-day rolling temp + lag-1 account for &gt;60% of SHAP importance — recent memory matters more than raw sensors.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600200"/>
          </a:xfrm>
          <a:prstGeom prst="rect">
            <a:avLst/>
          </a:prstGeom>
          <a:solidFill>
            <a:srgbClr val="0D1B2A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05840"/>
            <a:ext cx="2651760" cy="7315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11521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A5E9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886200" y="11521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LightGBM beats deep learning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55848" y="160020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On 143K tabular rows, gradient boosting outperforms LSTM/Transformer — sufficient data makes tree models hard to beat.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51760" cy="1600200"/>
          </a:xfrm>
          <a:prstGeom prst="rect">
            <a:avLst/>
          </a:prstGeom>
          <a:solidFill>
            <a:srgbClr val="0D1B2A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0584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236208" y="115214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115214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Anomalies are meaningful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160020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610 consensus anomalies align with documented regional heatwave events — not noise — validating our dual-detector approach.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788920"/>
            <a:ext cx="2651760" cy="1600200"/>
          </a:xfrm>
          <a:prstGeom prst="rect">
            <a:avLst/>
          </a:prstGeom>
          <a:solidFill>
            <a:srgbClr val="0D1B2A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88920"/>
            <a:ext cx="2651760" cy="7315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" y="29352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59669"/>
                </a:solidFill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05840" y="29352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Air quality tracks heat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" y="338328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PM2.5 &amp; CO rise with temperature and fall with wind speed — stagnant hot air traps pollutants. Strong environmental policy implication.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2788920"/>
            <a:ext cx="2651760" cy="1600200"/>
          </a:xfrm>
          <a:prstGeom prst="rect">
            <a:avLst/>
          </a:prstGeom>
          <a:solidFill>
            <a:srgbClr val="0D1B2A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78892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355848" y="29352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05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886200" y="29352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Ensemble marginal gain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55848" y="338328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Weighted ensemble reduces error by ~1% over LightGBM alone. Greater diversity across model families would help more.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788920"/>
            <a:ext cx="2651760" cy="1600200"/>
          </a:xfrm>
          <a:prstGeom prst="rect">
            <a:avLst/>
          </a:prstGeom>
          <a:solidFill>
            <a:srgbClr val="0D1B2A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788920"/>
            <a:ext cx="2651760" cy="73152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1" name="Text 29"/>
          <p:cNvSpPr/>
          <p:nvPr/>
        </p:nvSpPr>
        <p:spPr>
          <a:xfrm>
            <a:off x="6236208" y="2935224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06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6766560" y="2935224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ADF confirms non-stationarity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36208" y="3383280"/>
            <a:ext cx="24505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p=0.658 — global temperature series is non-stationary. First-order differencing required for valid ARIMA modelling.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2A"/>
                </a:solidFill>
              </a:rPr>
              <a:t>Future Work &amp; Next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78992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01498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Hyperparameter Tuning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051560" y="1325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Optuna / Bayesian search for LightGBM &amp; Transformer — expected 2–5% additional RMSE reduction.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65760" y="960120"/>
            <a:ext cx="73152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" y="1764792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83664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181965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Multi-Target Forecasting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51560" y="21305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Jointly predict temperature + humidity + precipitation using multi-output regression.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1764792"/>
            <a:ext cx="73152" cy="6858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0"/>
          <p:cNvSpPr/>
          <p:nvPr/>
        </p:nvSpPr>
        <p:spPr>
          <a:xfrm>
            <a:off x="365760" y="2569464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688336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2624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Probabilistic Forecasting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051560" y="293522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Quantile regression or MC-Dropout to produce calibrated uncertainty bands around predictions.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365760" y="2569464"/>
            <a:ext cx="73152" cy="6858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9" name="Shape 14"/>
          <p:cNvSpPr/>
          <p:nvPr/>
        </p:nvSpPr>
        <p:spPr>
          <a:xfrm>
            <a:off x="365760" y="3374136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9300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Real-Time Pipeline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51560" y="3739896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Stream live data via OpenWeatherMap API with incremental retraining triggered by data drift.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65760" y="3374136"/>
            <a:ext cx="73152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18"/>
          <p:cNvSpPr/>
          <p:nvPr/>
        </p:nvSpPr>
        <p:spPr>
          <a:xfrm>
            <a:off x="365760" y="4178808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297680"/>
            <a:ext cx="411480" cy="4114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051560" y="42336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1051560" y="454456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FastAPI REST endpoint + Streamlit dashboard for interactive city-level forecasting.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65760" y="4178808"/>
            <a:ext cx="73152" cy="685800"/>
          </a:xfrm>
          <a:prstGeom prst="rect">
            <a:avLst/>
          </a:prstGeom>
          <a:solidFill>
            <a:srgbClr val="DC2626"/>
          </a:solidFill>
          <a:ln/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B3A5C">
              <a:alpha val="5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1371600"/>
            <a:ext cx="4572000" cy="457200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FFFF"/>
                </a:solidFill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</a:rPr>
              <a:t>Global Weather Repository — Advanced Forecasting Assessment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606040"/>
            <a:ext cx="7772400" cy="27432"/>
          </a:xfrm>
          <a:prstGeom prst="rect">
            <a:avLst/>
          </a:prstGeom>
          <a:solidFill>
            <a:srgbClr val="0D9488">
              <a:alpha val="6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</a:rPr>
              <a:t>143,262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3456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records processed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14600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</a:rPr>
              <a:t>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514600" y="3456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models compared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</a:rPr>
              <a:t>0.961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3456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best R² (LightGBM)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29400" y="28346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5EEAD4"/>
                </a:solidFill>
              </a:rPr>
              <a:t>610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29400" y="34564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anomalies detected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PM Accelerator  ·  Data Scientist / Analyst Assessment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Demo Video: https://drive.google.com/file/d/1aolq8NlMXdwedUVeeONcaL6NG8BaBd7W/view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Weather Forecasting — PM Accelerator</dc:title>
  <dc:subject>PptxGenJS Presentation</dc:subject>
  <dc:creator>Data Science Assessment</dc:creator>
  <cp:lastModifiedBy>Data Science Assessment</cp:lastModifiedBy>
  <cp:revision>1</cp:revision>
  <dcterms:created xsi:type="dcterms:W3CDTF">2026-05-25T07:43:43Z</dcterms:created>
  <dcterms:modified xsi:type="dcterms:W3CDTF">2026-05-25T07:43:43Z</dcterms:modified>
</cp:coreProperties>
</file>